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Runs and alignment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/>
              <a:t>Bold </a:t>
            </a:r>
            <a:r>
              <a:rPr sz="2400" i="1"/>
              <a:t>italic </a:t>
            </a:r>
            <a:r>
              <a:rPr sz="2400" u="sng"/>
              <a:t>underline </a:t>
            </a:r>
            <a:r>
              <a:rPr sz="2400" strike="sngStrike"/>
              <a:t>strike </a:t>
            </a:r>
            <a:r>
              <a:rPr sz="2400">
                <a:solidFill>
                  <a:srgbClr val="C02020"/>
                </a:solidFill>
              </a:rPr>
              <a:t>red </a:t>
            </a:r>
            <a:r>
              <a:rPr sz="4000"/>
              <a:t>big</a:t>
            </a:r>
          </a:p>
          <a:p>
            <a:pPr algn="l"/>
            <a:r>
              <a:rPr sz="2000"/>
              <a:t>Left aligned</a:t>
            </a:r>
          </a:p>
          <a:p>
            <a:pPr algn="ctr"/>
            <a:r>
              <a:rPr sz="2000"/>
              <a:t>Centred</a:t>
            </a:r>
          </a:p>
          <a:p>
            <a:pPr algn="r"/>
            <a:r>
              <a:rPr sz="2000"/>
              <a:t>Right aligned</a:t>
            </a:r>
          </a:p>
          <a:p>
            <a:pPr algn="just"/>
            <a:r>
              <a:rPr sz="2000"/>
              <a:t>Justified text runs to both edges of the box when it wraps onto a second line like this one does.</a:t>
            </a:r>
          </a:p>
          <a:p>
            <a:r>
              <a:rPr sz="2000"/>
              <a:t>A line break</a:t>
            </a:r>
            <a:br/>
            <a:r>
              <a:rPr sz="2000"/>
              <a:t>inside one paragraph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0" y="146304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</a:pPr>
            <a:r>
              <a:rPr sz="2000"/>
              <a:t>Single spacing, 20 pt after</a:t>
            </a:r>
          </a:p>
          <a:p>
            <a:pPr>
              <a:lnSpc>
                <a:spcPct val="150000"/>
              </a:lnSpc>
            </a:pPr>
            <a:r>
              <a:rPr sz="2000"/>
              <a:t>One and a half line spacing wraps onto a second line here</a:t>
            </a:r>
          </a:p>
          <a:p>
            <a:pPr>
              <a:lnSpc>
                <a:spcPts val="4000"/>
              </a:lnSpc>
              <a:spcBef>
                <a:spcPts val="1200"/>
              </a:spcBef>
            </a:pPr>
            <a:r>
              <a:rPr sz="2000"/>
              <a:t>Exactly 40 pt between lines, which also wraps onto a second 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Bullets and numbering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1000" indent="-381000">
              <a:buAutoNum type="arabicPeriod"/>
            </a:pPr>
            <a:r>
              <a:rPr sz="2200"/>
              <a:t>Numbered one</a:t>
            </a:r>
          </a:p>
          <a:p>
            <a:pPr marL="381000" indent="-381000">
              <a:buAutoNum type="arabicPeriod"/>
            </a:pPr>
            <a:r>
              <a:rPr sz="2200"/>
              <a:t>Numbered two</a:t>
            </a:r>
          </a:p>
          <a:p>
            <a:pPr lvl="1" marL="762000" indent="-381000">
              <a:buAutoNum type="alphaLcParenR"/>
            </a:pPr>
            <a:r>
              <a:rPr sz="2200"/>
              <a:t>Lettered a</a:t>
            </a:r>
          </a:p>
          <a:p>
            <a:pPr lvl="1" marL="762000" indent="-381000">
              <a:buAutoNum type="alphaLcParenR"/>
            </a:pPr>
            <a:r>
              <a:rPr sz="2200"/>
              <a:t>Lettered b</a:t>
            </a:r>
          </a:p>
          <a:p>
            <a:pPr marL="381000" indent="-381000">
              <a:buAutoNum type="arabicPeriod"/>
            </a:pPr>
            <a:r>
              <a:rPr sz="2200"/>
              <a:t>Numbered three</a:t>
            </a:r>
          </a:p>
          <a:p>
            <a:pPr lvl="1" marL="762000" indent="-381000">
              <a:buAutoNum type="romanLcPeriod"/>
            </a:pPr>
            <a:r>
              <a:rPr sz="2200"/>
              <a:t>Roman i</a:t>
            </a:r>
          </a:p>
          <a:p>
            <a:pPr lvl="1" marL="762000" indent="-381000">
              <a:buAutoNum type="romanLcPeriod"/>
            </a:pPr>
            <a:r>
              <a:rPr sz="2200"/>
              <a:t>Roman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04800" indent="-304800">
              <a:buChar char="•"/>
            </a:pPr>
            <a:r>
              <a:rPr sz="2200"/>
              <a:t>Round bullet</a:t>
            </a:r>
          </a:p>
          <a:p>
            <a:pPr lvl="1" marL="762000" indent="-304800">
              <a:buChar char="–"/>
            </a:pPr>
            <a:r>
              <a:rPr sz="2200"/>
              <a:t>Dash bullet one level in</a:t>
            </a:r>
          </a:p>
          <a:p>
            <a:pPr lvl="2" marL="1219200" indent="-304800">
              <a:buChar char="»"/>
            </a:pPr>
            <a:r>
              <a:rPr sz="2200"/>
              <a:t>Arrow bullet two levels in</a:t>
            </a:r>
          </a:p>
          <a:p>
            <a:pPr marL="304800" indent="-304800">
              <a:buChar char="•"/>
            </a:pPr>
            <a:r>
              <a:rPr sz="2200"/>
              <a:t>Round bullet again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Anchors and autofit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54480"/>
            <a:ext cx="1828800" cy="21945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sz="2000"/>
              <a:t>Top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1554480"/>
            <a:ext cx="1828800" cy="21945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/>
              <a:t>Middle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1554480"/>
            <a:ext cx="1828800" cy="21945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sz="2000"/>
              <a:t>Bottom</a:t>
            </a:r>
          </a:p>
        </p:txBody>
      </p:sp>
      <p:sp>
        <p:nvSpPr>
          <p:cNvPr id="6" name="Rectangle 5"/>
          <p:cNvSpPr/>
          <p:nvPr/>
        </p:nvSpPr>
        <p:spPr>
          <a:xfrm>
            <a:off x="6949440" y="1554480"/>
            <a:ext cx="4572000" cy="2194560"/>
          </a:xfrm>
          <a:prstGeom prst="rect">
            <a:avLst/>
          </a:prstGeom>
          <a:solidFill>
            <a:srgbClr val="EEEE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 fontScale="62500" lnSpcReduction="20000"/>
          </a:bodyPr>
          <a:lstStyle/>
          <a:p>
            <a:r>
              <a:rPr sz="2800">
                <a:solidFill>
                  <a:srgbClr val="202020"/>
                </a:solidFill>
              </a:rPr>
              <a:t>This box holds more text than fits at 28 pt, so PowerPoint saved a 62.5% font scale and a 20% line spacing reduction. The parser applies both.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A text box that does not wrap runs past its edge</a:t>
            </a:r>
          </a:p>
        </p:txBody>
      </p:sp>
      <p:sp>
        <p:nvSpPr>
          <p:cNvPr id="8" name="TextBox 7"/>
          <p:cNvSpPr txBox="1"/>
          <p:nvPr/>
        </p:nvSpPr>
        <p:spPr>
          <a:xfrm rot="1200000">
            <a:off x="8686800" y="438912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Rotated 20 degrees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4206240"/>
            <a:ext cx="914400" cy="2286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vert="vert270"/>
          <a:lstStyle/>
          <a:p>
            <a:r>
              <a:rPr sz="2000"/>
              <a:t>Vertical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