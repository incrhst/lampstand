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Trainer: Ten minutes from now you will run a short practice service with no wrong slide</a:t>
            </a:r>
          </a:p>
          <a:p>
            <a:r>
              <a:t>and no desktop showing. Point at each part of the screen as we 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Trainer: Point at each one on the real screen as it appears.</a:t>
            </a:r>
          </a:p>
          <a:p>
            <a:r>
              <a:t>The wall is every slide, item by item, in order. The red LIVE card is on air, and the gold</a:t>
            </a:r>
          </a:p>
          <a:p>
            <a:r>
              <a:t>NEXT card is what Space shows next. The notes, where you are reading this, sit beside the</a:t>
            </a:r>
          </a:p>
          <a:p>
            <a:r>
              <a:t>item on air. The strip on top has a small picture of the main screen, then Next, Previous</a:t>
            </a:r>
          </a:p>
          <a:p>
            <a:r>
              <a:t>and Blank. Show, Idle and Blank, top right, switch the room between the slide, the idle</a:t>
            </a:r>
          </a:p>
          <a:p>
            <a:r>
              <a:t>screen and black. Press F for Focus to see only the cards; F or Esc brings the rest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Trainer: Choosing an item with Shift and Down only shows it to you. It goes on air when you</a:t>
            </a:r>
          </a:p>
          <a:p>
            <a:r>
              <a:t>start it with Enter, or click one of its cards. Space always moves on from what is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Trainer: These four are enough to run a whole service. A presenter clicker sends the same</a:t>
            </a:r>
          </a:p>
          <a:p>
            <a:r>
              <a:t>keys. The next video shows them in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700000"/>
            <a:ext cx="10820400" cy="5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E9B949"/>
                </a:solidFill>
                <a:latin typeface="Noto Sans"/>
              </a:rPr>
              <a:t>Training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250000"/>
            <a:ext cx="10820400" cy="15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2400"/>
              </a:spcAft>
            </a:pPr>
            <a:r>
              <a:rPr sz="4800" b="1">
                <a:solidFill>
                  <a:srgbClr val="F5F1E8"/>
                </a:solidFill>
                <a:latin typeface="Noto Sans"/>
              </a:rPr>
              <a:t>The Present screen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900000"/>
            <a:ext cx="10820400" cy="14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 b="0">
                <a:solidFill>
                  <a:srgbClr val="A8A296"/>
                </a:solidFill>
                <a:latin typeface="Noto Sans"/>
              </a:rPr>
              <a:t>Four places to look. One rule.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58000"/>
            <a:ext cx="10820400" cy="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A8A296"/>
                </a:solidFill>
                <a:latin typeface="Noto Sans"/>
              </a:rPr>
              <a:t>Lampstand training · 1 Run a service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00000"/>
            <a:ext cx="10820400" cy="9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800"/>
              </a:spcAft>
            </a:pPr>
            <a:r>
              <a:rPr sz="3600" b="1">
                <a:solidFill>
                  <a:srgbClr val="E9B949"/>
                </a:solidFill>
                <a:latin typeface="Noto Sans"/>
              </a:rPr>
              <a:t>Four places to look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750000"/>
            <a:ext cx="10820400" cy="4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2800" b="0">
                <a:solidFill>
                  <a:srgbClr val="F5F1E8"/>
                </a:solidFill>
                <a:latin typeface="Noto Sans"/>
              </a:rPr>
              <a:t>•  The wall: every slide of the service</a:t>
            </a:r>
          </a:p>
          <a:p>
            <a:pPr algn="l">
              <a:spcAft>
                <a:spcPts val="1400"/>
              </a:spcAft>
            </a:pPr>
            <a:r>
              <a:rPr sz="2800" b="0">
                <a:solidFill>
                  <a:srgbClr val="F5F1E8"/>
                </a:solidFill>
                <a:latin typeface="Noto Sans"/>
              </a:rPr>
              <a:t>•  Red LIVE: what the room sees now</a:t>
            </a:r>
          </a:p>
          <a:p>
            <a:pPr algn="l">
              <a:spcAft>
                <a:spcPts val="1400"/>
              </a:spcAft>
            </a:pPr>
            <a:r>
              <a:rPr sz="2800" b="0">
                <a:solidFill>
                  <a:srgbClr val="F5F1E8"/>
                </a:solidFill>
                <a:latin typeface="Noto Sans"/>
              </a:rPr>
              <a:t>•  Gold NEXT: what Space puts up</a:t>
            </a:r>
          </a:p>
          <a:p>
            <a:pPr algn="l">
              <a:spcAft>
                <a:spcPts val="1400"/>
              </a:spcAft>
            </a:pPr>
            <a:r>
              <a:rPr sz="2800" b="0">
                <a:solidFill>
                  <a:srgbClr val="F5F1E8"/>
                </a:solidFill>
                <a:latin typeface="Noto Sans"/>
              </a:rPr>
              <a:t>•  The strip on top: the main screen and the buttons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358000"/>
            <a:ext cx="10820400" cy="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A8A296"/>
                </a:solidFill>
                <a:latin typeface="Noto Sans"/>
              </a:rPr>
              <a:t>Lampstand training · 1 Run a service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5800" y="1600000"/>
            <a:ext cx="10020400" cy="28000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spcAft>
                <a:spcPts val="1800"/>
              </a:spcAft>
            </a:pPr>
            <a:r>
              <a:rPr sz="3600" b="0">
                <a:solidFill>
                  <a:srgbClr val="F5F1E8"/>
                </a:solidFill>
                <a:latin typeface="Noto Sans"/>
              </a:rPr>
              <a:t>Nothing reaches the screen until you send it.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4600000"/>
            <a:ext cx="10820400" cy="5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1100"/>
              </a:spcAft>
            </a:pPr>
            <a:r>
              <a:rPr sz="2200" b="0">
                <a:solidFill>
                  <a:srgbClr val="E9B949"/>
                </a:solidFill>
                <a:latin typeface="Noto Sans"/>
              </a:rPr>
              <a:t>The one 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58000"/>
            <a:ext cx="10820400" cy="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A8A296"/>
                </a:solidFill>
                <a:latin typeface="Noto Sans"/>
              </a:rPr>
              <a:t>Lampstand training · 1 Run a service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00000"/>
            <a:ext cx="10820400" cy="9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800"/>
              </a:spcAft>
            </a:pPr>
            <a:r>
              <a:rPr sz="3600" b="1">
                <a:solidFill>
                  <a:srgbClr val="E9B949"/>
                </a:solidFill>
                <a:latin typeface="Noto Sans"/>
              </a:rPr>
              <a:t>The keys you need today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700000"/>
            <a:ext cx="2400000" cy="560000"/>
          </a:xfrm>
          <a:prstGeom prst="roundRect">
            <a:avLst/>
          </a:prstGeom>
          <a:solidFill>
            <a:srgbClr val="222736"/>
          </a:solidFill>
          <a:ln w="19050">
            <a:solidFill>
              <a:srgbClr val="E9B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/>
          <a:lstStyle/>
          <a:p>
            <a:pPr algn="ctr"/>
            <a:r>
              <a:rPr sz="2200" b="1">
                <a:solidFill>
                  <a:srgbClr val="E9B949"/>
                </a:solidFill>
                <a:latin typeface="Noto Sans"/>
              </a:rPr>
              <a:t>Space  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5800" y="1760000"/>
            <a:ext cx="8120400" cy="56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 b="0">
                <a:solidFill>
                  <a:srgbClr val="F5F1E8"/>
                </a:solidFill>
                <a:latin typeface="Noto Sans"/>
              </a:rPr>
              <a:t>Next slide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460000"/>
            <a:ext cx="2400000" cy="560000"/>
          </a:xfrm>
          <a:prstGeom prst="roundRect">
            <a:avLst/>
          </a:prstGeom>
          <a:solidFill>
            <a:srgbClr val="222736"/>
          </a:solidFill>
          <a:ln w="19050">
            <a:solidFill>
              <a:srgbClr val="E9B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/>
          <a:lstStyle/>
          <a:p>
            <a:pPr algn="ctr"/>
            <a:r>
              <a:rPr sz="2200" b="1">
                <a:solidFill>
                  <a:srgbClr val="E9B949"/>
                </a:solidFill>
                <a:latin typeface="Noto Sans"/>
              </a:rPr>
              <a:t>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5800" y="2520000"/>
            <a:ext cx="8120400" cy="56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 b="0">
                <a:solidFill>
                  <a:srgbClr val="F5F1E8"/>
                </a:solidFill>
                <a:latin typeface="Noto Sans"/>
              </a:rPr>
              <a:t>Previous slide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220000"/>
            <a:ext cx="2400000" cy="560000"/>
          </a:xfrm>
          <a:prstGeom prst="roundRect">
            <a:avLst/>
          </a:prstGeom>
          <a:solidFill>
            <a:srgbClr val="222736"/>
          </a:solidFill>
          <a:ln w="19050">
            <a:solidFill>
              <a:srgbClr val="E9B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/>
          <a:lstStyle/>
          <a:p>
            <a:pPr algn="ctr"/>
            <a:r>
              <a:rPr sz="2200" b="1">
                <a:solidFill>
                  <a:srgbClr val="E9B949"/>
                </a:solidFill>
                <a:latin typeface="Noto Sans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5800" y="3280000"/>
            <a:ext cx="8120400" cy="56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 b="0">
                <a:solidFill>
                  <a:srgbClr val="F5F1E8"/>
                </a:solidFill>
                <a:latin typeface="Noto Sans"/>
              </a:rPr>
              <a:t>Blank the screen, and back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980000"/>
            <a:ext cx="2400000" cy="560000"/>
          </a:xfrm>
          <a:prstGeom prst="roundRect">
            <a:avLst/>
          </a:prstGeom>
          <a:solidFill>
            <a:srgbClr val="222736"/>
          </a:solidFill>
          <a:ln w="19050">
            <a:solidFill>
              <a:srgbClr val="E9B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/>
          <a:lstStyle/>
          <a:p>
            <a:pPr algn="ctr"/>
            <a:r>
              <a:rPr sz="2200" b="1">
                <a:solidFill>
                  <a:srgbClr val="E9B949"/>
                </a:solidFill>
                <a:latin typeface="Noto Sans"/>
              </a:rPr>
              <a:t>⇧↓  Enter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5800" y="4040000"/>
            <a:ext cx="8120400" cy="56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 b="0">
                <a:solidFill>
                  <a:srgbClr val="F5F1E8"/>
                </a:solidFill>
                <a:latin typeface="Noto Sans"/>
              </a:rPr>
              <a:t>Choose the next item, then start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358000"/>
            <a:ext cx="10820400" cy="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A8A296"/>
                </a:solidFill>
                <a:latin typeface="Noto Sans"/>
              </a:rPr>
              <a:t>Lampstand training · 1 Run a service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Present screen</dc:title>
  <dc:subject/>
  <dc:creator>Lampstand</dc:creator>
  <cp:keywords/>
  <dc:description>generated using python-pptx</dc:description>
  <cp:lastModifiedBy>Lampstand</cp:lastModifiedBy>
  <cp:revision>1</cp:revision>
  <dcterms:created xsi:type="dcterms:W3CDTF">2026-10-01T00:00:00Z</dcterms:created>
  <dcterms:modified xsi:type="dcterms:W3CDTF">2026-10-01T00:00:00Z</dcterms:modified>
  <cp:category/>
</cp:coreProperties>
</file>